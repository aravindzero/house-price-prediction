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1" r:id="rId7"/>
    <p:sldId id="266" r:id="rId8"/>
    <p:sldId id="267" r:id="rId9"/>
    <p:sldId id="263" r:id="rId10"/>
    <p:sldId id="264" r:id="rId11"/>
    <p:sldId id="265" r:id="rId12"/>
    <p:sldId id="269" r:id="rId1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388" autoAdjust="0"/>
  </p:normalViewPr>
  <p:slideViewPr>
    <p:cSldViewPr snapToGrid="0" snapToObjects="1">
      <p:cViewPr>
        <p:scale>
          <a:sx n="75" d="100"/>
          <a:sy n="75" d="100"/>
        </p:scale>
        <p:origin x="37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628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House Price Prediction</a:t>
            </a:r>
            <a:endParaRPr lang="en-US" sz="4450" dirty="0">
              <a:solidFill>
                <a:srgbClr val="E1E5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Presented by:</a:t>
            </a: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 Aravindhan R, Frank Enos Paul, and Mohamed </a:t>
            </a:r>
            <a:r>
              <a:rPr lang="en-US" sz="175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Asfaaq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A059C-5172-18EF-B6F7-E92449959A39}"/>
              </a:ext>
            </a:extLst>
          </p:cNvPr>
          <p:cNvSpPr txBox="1"/>
          <p:nvPr/>
        </p:nvSpPr>
        <p:spPr>
          <a:xfrm>
            <a:off x="700272" y="3516586"/>
            <a:ext cx="6276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1E5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Approach to Real Estate Valuation</a:t>
            </a:r>
            <a:endParaRPr lang="en-IN" dirty="0">
              <a:solidFill>
                <a:srgbClr val="E1E5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1184"/>
            <a:ext cx="99879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The Challenge in Real Estate Valuation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0635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The real estate industry continues to depend heavily on traditional manual appraisals, a process fraught with limitations that impact buyers, sellers, and investors alike.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044547"/>
            <a:ext cx="4196358" cy="3665815"/>
          </a:xfrm>
          <a:prstGeom prst="roundRect">
            <a:avLst>
              <a:gd name="adj" fmla="val 928"/>
            </a:avLst>
          </a:prstGeom>
          <a:solidFill>
            <a:srgbClr val="3B3C3E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458408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Subjective Pricing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20604" y="4669036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Different agents provide varying price estimates based on personal bias and experience, leading to inconsistent valuations for similar properties.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216962" y="3044547"/>
            <a:ext cx="4196358" cy="3665815"/>
          </a:xfrm>
          <a:prstGeom prst="roundRect">
            <a:avLst>
              <a:gd name="adj" fmla="val 928"/>
            </a:avLst>
          </a:prstGeom>
          <a:solidFill>
            <a:srgbClr val="3B3C3E"/>
          </a:solidFill>
          <a:ln/>
        </p:spPr>
      </p:sp>
      <p:sp>
        <p:nvSpPr>
          <p:cNvPr id="10" name="Shape 7"/>
          <p:cNvSpPr/>
          <p:nvPr/>
        </p:nvSpPr>
        <p:spPr>
          <a:xfrm>
            <a:off x="5443776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458408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Inconsistent Results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43776" y="4669036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High risk of human error in calculations and assessments undermines confidence in property valuations and market transparency.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640133" y="3044547"/>
            <a:ext cx="4196358" cy="3665815"/>
          </a:xfrm>
          <a:prstGeom prst="roundRect">
            <a:avLst>
              <a:gd name="adj" fmla="val 928"/>
            </a:avLst>
          </a:prstGeom>
          <a:solidFill>
            <a:srgbClr val="3B3C3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66948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3458408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178617"/>
            <a:ext cx="30371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Time-Intensive Process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866948" y="4669036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Physical site visits, extensive paperwork, and lengthy approval cycles create delays that frustrate stakeholders and slow down transactions.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93790" y="69655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The market needed a faster, more objective, and scientifically grounded approach to property valuation.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0DA254-530C-C71B-A601-B90DD8FBEC51}"/>
              </a:ext>
            </a:extLst>
          </p:cNvPr>
          <p:cNvSpPr/>
          <p:nvPr/>
        </p:nvSpPr>
        <p:spPr>
          <a:xfrm>
            <a:off x="12904113" y="7793182"/>
            <a:ext cx="1622378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4952" y="443865"/>
            <a:ext cx="6678811" cy="50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400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Our Solution: Intelligent Automation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4952" y="1351717"/>
            <a:ext cx="2727722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Data-Driven Predictions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4952" y="1815703"/>
            <a:ext cx="6553319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Our web application leverages Random Forest Regression to analyse historical housing data and deliver instant, accurate price estimates.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4952" y="2579749"/>
            <a:ext cx="6553319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The system eliminates guesswork by processing key property attributes—median income, house age, location coordinates, and more—to generate scientific valuations.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4952" y="3577146"/>
            <a:ext cx="6553319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With automatic currency conversion between USD and INR, the platform serves diverse users across markets seamlessly.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749" y="1107531"/>
            <a:ext cx="6553319" cy="65533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4952" y="8288417"/>
            <a:ext cx="13500497" cy="685681"/>
          </a:xfrm>
          <a:prstGeom prst="roundRect">
            <a:avLst>
              <a:gd name="adj" fmla="val 3532"/>
            </a:avLst>
          </a:prstGeom>
          <a:solidFill>
            <a:srgbClr val="2A2C2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81" y="8524042"/>
            <a:ext cx="201692" cy="1613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89303" y="8489990"/>
            <a:ext cx="12814816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Key Advantage: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 Instant valuations that combine the precision of machine learning with the accessibility of an intuitive interface.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2FAC14-739D-7FA6-73BA-B2B937498267}"/>
              </a:ext>
            </a:extLst>
          </p:cNvPr>
          <p:cNvSpPr/>
          <p:nvPr/>
        </p:nvSpPr>
        <p:spPr>
          <a:xfrm>
            <a:off x="12904113" y="7793182"/>
            <a:ext cx="1622378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1616" y="610195"/>
            <a:ext cx="5537359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System Architecture</a:t>
            </a:r>
            <a:endParaRPr lang="en-US" sz="4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61616" y="1634490"/>
            <a:ext cx="75935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Our solution is built on a robust three-tier architecture that ensures scalability, maintainability, and optimal performance.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61616" y="2592229"/>
            <a:ext cx="2214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Outfit Light" pitchFamily="34" charset="-122"/>
                <a:cs typeface="Times New Roman" panose="02020603050405020304" pitchFamily="18" charset="0"/>
              </a:rPr>
              <a:t>01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261616" y="2938224"/>
            <a:ext cx="3686056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7" name="Text 4"/>
          <p:cNvSpPr/>
          <p:nvPr/>
        </p:nvSpPr>
        <p:spPr>
          <a:xfrm>
            <a:off x="6261616" y="3109913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Frontend Layer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61616" y="3588782"/>
            <a:ext cx="3686056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Built with HTML, CSS, and JavaScript to create an intuitive user interface that collects property details and displays results elegantly.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169128" y="2592229"/>
            <a:ext cx="2214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Outfit Light" pitchFamily="34" charset="-122"/>
                <a:cs typeface="Times New Roman" panose="02020603050405020304" pitchFamily="18" charset="0"/>
              </a:rPr>
              <a:t>02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169128" y="2938224"/>
            <a:ext cx="3686056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1" name="Text 8"/>
          <p:cNvSpPr/>
          <p:nvPr/>
        </p:nvSpPr>
        <p:spPr>
          <a:xfrm>
            <a:off x="10169128" y="3109913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Backend Layer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169128" y="3588782"/>
            <a:ext cx="3686056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Powered by Python and Flask, this layer orchestrates data processing, feature scaling, and communication between the interface and the model.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61616" y="5747980"/>
            <a:ext cx="2214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Outfit Light" pitchFamily="34" charset="-122"/>
                <a:cs typeface="Times New Roman" panose="02020603050405020304" pitchFamily="18" charset="0"/>
              </a:rPr>
              <a:t>03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61616" y="6093976"/>
            <a:ext cx="759356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5" name="Text 12"/>
          <p:cNvSpPr/>
          <p:nvPr/>
        </p:nvSpPr>
        <p:spPr>
          <a:xfrm>
            <a:off x="6261616" y="6265664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Model Layer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61616" y="6744533"/>
            <a:ext cx="75935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Houses the pre-trained Random Forest model saved as a .joblib file, enabling rapid predictions with consistent accuracy.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428CF5-A43B-3753-1C19-9266A338DBF4}"/>
              </a:ext>
            </a:extLst>
          </p:cNvPr>
          <p:cNvSpPr/>
          <p:nvPr/>
        </p:nvSpPr>
        <p:spPr>
          <a:xfrm>
            <a:off x="12904113" y="7793182"/>
            <a:ext cx="1622378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62764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Data Science Workflow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Fraunces Light" pitchFamily="34" charset="-122"/>
                <a:cs typeface="Times New Roman" panose="02020603050405020304" pitchFamily="18" charset="0"/>
              </a:rPr>
              <a:t>01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Data Preprocessing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Handle missing values, remove outliers, and clean the dataset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Fraunces Light" pitchFamily="34" charset="-122"/>
                <a:cs typeface="Times New Roman" panose="02020603050405020304" pitchFamily="18" charset="0"/>
              </a:rPr>
              <a:t>02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Feature Scaling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StandardScaler normalizes features to mean=0, std=1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Fraunces Light" pitchFamily="34" charset="-122"/>
                <a:cs typeface="Times New Roman" panose="02020603050405020304" pitchFamily="18" charset="0"/>
              </a:rPr>
              <a:t>03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Model Training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Random Forest Regressor learns patterns from 80% training data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Fraunces Light" pitchFamily="34" charset="-122"/>
                <a:cs typeface="Times New Roman" panose="02020603050405020304" pitchFamily="18" charset="0"/>
              </a:rPr>
              <a:t>04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Evaluation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Test on 20% holdout set using MAE and R² metrics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Fraunces Light" pitchFamily="34" charset="-122"/>
                <a:cs typeface="Times New Roman" panose="02020603050405020304" pitchFamily="18" charset="0"/>
              </a:rPr>
              <a:t>05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Deployment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Serialize model and deploy via Flask API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D67DBE-5CA9-A50C-7474-31569A12D2C1}"/>
              </a:ext>
            </a:extLst>
          </p:cNvPr>
          <p:cNvSpPr/>
          <p:nvPr/>
        </p:nvSpPr>
        <p:spPr>
          <a:xfrm>
            <a:off x="12904113" y="7793182"/>
            <a:ext cx="1622378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093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461" y="2799517"/>
            <a:ext cx="4589502" cy="57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Technology Stack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42461" y="3648432"/>
            <a:ext cx="6580942" cy="1947624"/>
          </a:xfrm>
          <a:prstGeom prst="roundRect">
            <a:avLst>
              <a:gd name="adj" fmla="val 1414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5321" y="3671292"/>
            <a:ext cx="6535222" cy="550664"/>
          </a:xfrm>
          <a:prstGeom prst="roundRect">
            <a:avLst>
              <a:gd name="adj" fmla="val 19"/>
            </a:avLst>
          </a:prstGeom>
          <a:solidFill>
            <a:srgbClr val="3B3C3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95236" y="3808928"/>
            <a:ext cx="275273" cy="2752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8797" y="4405432"/>
            <a:ext cx="2385655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Frontend Technologies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48797" y="4802267"/>
            <a:ext cx="6168271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HTML5, CSS3, and JavaScript create a responsive, user-friendly interface that works seamlessly across devices.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406878" y="3648432"/>
            <a:ext cx="6581061" cy="1947624"/>
          </a:xfrm>
          <a:prstGeom prst="roundRect">
            <a:avLst>
              <a:gd name="adj" fmla="val 1414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29738" y="3671292"/>
            <a:ext cx="6535341" cy="550664"/>
          </a:xfrm>
          <a:prstGeom prst="roundRect">
            <a:avLst>
              <a:gd name="adj" fmla="val 19"/>
            </a:avLst>
          </a:prstGeom>
          <a:solidFill>
            <a:srgbClr val="3B3C3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59772" y="3808928"/>
            <a:ext cx="275273" cy="2752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13213" y="4405432"/>
            <a:ext cx="229469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Backend Framework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613213" y="4802267"/>
            <a:ext cx="6168390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Python with Flask provides a lightweight yet powerful foundation for API endpoints and business logic.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42461" y="5779532"/>
            <a:ext cx="6580942" cy="1947624"/>
          </a:xfrm>
          <a:prstGeom prst="roundRect">
            <a:avLst>
              <a:gd name="adj" fmla="val 1414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65321" y="5802392"/>
            <a:ext cx="6535222" cy="550664"/>
          </a:xfrm>
          <a:prstGeom prst="roundRect">
            <a:avLst>
              <a:gd name="adj" fmla="val 19"/>
            </a:avLst>
          </a:prstGeom>
          <a:solidFill>
            <a:srgbClr val="3B3C3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95236" y="5940028"/>
            <a:ext cx="275273" cy="27527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8797" y="6536531"/>
            <a:ext cx="2294692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ML Libraries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48797" y="6933367"/>
            <a:ext cx="6168271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Scikit-learn for model building [ML], Pandas for data manipulation and, and NumPy for numerical computations.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406878" y="5779532"/>
            <a:ext cx="6581061" cy="1947624"/>
          </a:xfrm>
          <a:prstGeom prst="roundRect">
            <a:avLst>
              <a:gd name="adj" fmla="val 1414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429738" y="5802392"/>
            <a:ext cx="6535341" cy="550664"/>
          </a:xfrm>
          <a:prstGeom prst="roundRect">
            <a:avLst>
              <a:gd name="adj" fmla="val 19"/>
            </a:avLst>
          </a:prstGeom>
          <a:solidFill>
            <a:srgbClr val="3B3C3E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59772" y="5940028"/>
            <a:ext cx="275273" cy="27527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13213" y="6536531"/>
            <a:ext cx="2823448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Development Environment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7613213" y="6933367"/>
            <a:ext cx="6168390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Visual Studio Code served as our integrated development environment for coding, testing, and debugging.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7F0321-1182-1F4A-560A-40FE4F8C5F74}"/>
              </a:ext>
            </a:extLst>
          </p:cNvPr>
          <p:cNvSpPr/>
          <p:nvPr/>
        </p:nvSpPr>
        <p:spPr>
          <a:xfrm>
            <a:off x="12904113" y="7793182"/>
            <a:ext cx="1622378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87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Key Input Features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48114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Median Income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644253" y="4106228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Neighborhood wealth indicator in 10k USD units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348114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Property Details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307348" y="4106228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Average rooms, bedrooms, and house age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057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Population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644253" y="5547836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Area population density metrics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057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Geographic Data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307348" y="5547836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Latitude and longitude coordinates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A14B1F-FE06-0740-9F33-EE60AA36CCB3}"/>
              </a:ext>
            </a:extLst>
          </p:cNvPr>
          <p:cNvSpPr/>
          <p:nvPr/>
        </p:nvSpPr>
        <p:spPr>
          <a:xfrm>
            <a:off x="12905509" y="7793182"/>
            <a:ext cx="1569027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Model Performance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258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9096" y="24817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Superior Accuracy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959096" y="3133844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Random Forest achieved R² score of 0.89, significantly outperforming Linear Regression baseline.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59096" y="4426625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Key Predictors: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959096" y="4993600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Median Income (strongest)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959096" y="5435798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Latitude &amp; Longitude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59096" y="5877997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Average Rooms &amp; House Age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6F2E3-F151-02AA-64A9-7CAEB207A88D}"/>
              </a:ext>
            </a:extLst>
          </p:cNvPr>
          <p:cNvSpPr/>
          <p:nvPr/>
        </p:nvSpPr>
        <p:spPr>
          <a:xfrm>
            <a:off x="12904113" y="7793182"/>
            <a:ext cx="1622378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2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326" y="3052048"/>
            <a:ext cx="5164455" cy="62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Live Application Demo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00326" y="4177546"/>
            <a:ext cx="3001566" cy="37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Simple Input Process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00326" y="4752737"/>
            <a:ext cx="637079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Users enter essential property details through an intuitive form: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0326" y="5252918"/>
            <a:ext cx="637079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Median household income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00326" y="5643086"/>
            <a:ext cx="637079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Average number of rooms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00326" y="6033254"/>
            <a:ext cx="637079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Property age and location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0326" y="6423422"/>
            <a:ext cx="637079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Population and household metrics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566898" y="4177546"/>
            <a:ext cx="3001566" cy="37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Instant Results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566898" y="4752737"/>
            <a:ext cx="637079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The system processes data in real-time and displays: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566898" y="5252918"/>
            <a:ext cx="637079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Estimated property value in USD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66898" y="5643086"/>
            <a:ext cx="637079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Automatic conversion to INR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66898" y="6033254"/>
            <a:ext cx="637079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Confidence metrics and key factors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566898" y="6423422"/>
            <a:ext cx="6370796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Visual breakdown of price drivers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0326" y="7038618"/>
            <a:ext cx="13229749" cy="6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The dual-currency display makes the tool accessible to international investors and local buyers alike, eliminating the need for manual conversion.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C0D1C9-8898-A6DB-E7DD-5C70FA874B5A}"/>
              </a:ext>
            </a:extLst>
          </p:cNvPr>
          <p:cNvSpPr/>
          <p:nvPr/>
        </p:nvSpPr>
        <p:spPr>
          <a:xfrm>
            <a:off x="12904113" y="7793182"/>
            <a:ext cx="1622378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28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987" y="2884765"/>
            <a:ext cx="4729163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Future Roadmap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1987" y="3759637"/>
            <a:ext cx="13306425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We envision several enhancements that will elevate the platform's capabilities and expand its market reach.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45713" y="5031700"/>
            <a:ext cx="4025503" cy="189071"/>
          </a:xfrm>
          <a:prstGeom prst="roundRect">
            <a:avLst>
              <a:gd name="adj" fmla="val 15008"/>
            </a:avLst>
          </a:prstGeom>
          <a:solidFill>
            <a:srgbClr val="3B3C3E"/>
          </a:solidFill>
          <a:ln/>
        </p:spPr>
      </p:sp>
      <p:sp>
        <p:nvSpPr>
          <p:cNvPr id="6" name="Shape 3"/>
          <p:cNvSpPr/>
          <p:nvPr/>
        </p:nvSpPr>
        <p:spPr>
          <a:xfrm>
            <a:off x="717952" y="4842510"/>
            <a:ext cx="567452" cy="567452"/>
          </a:xfrm>
          <a:prstGeom prst="roundRect">
            <a:avLst>
              <a:gd name="adj" fmla="val 80571"/>
            </a:avLst>
          </a:prstGeom>
          <a:solidFill>
            <a:srgbClr val="3B3C3E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791" y="4984432"/>
            <a:ext cx="283726" cy="2837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1059" y="5599033"/>
            <a:ext cx="2866549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Deep Learning Integration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51059" y="6008013"/>
            <a:ext cx="3931206" cy="15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Implementing neural networks and advanced architectures to capture even more complex patterns and improve prediction accuracy beyond current benchmarks.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44133" y="4747974"/>
            <a:ext cx="4025622" cy="189071"/>
          </a:xfrm>
          <a:prstGeom prst="roundRect">
            <a:avLst>
              <a:gd name="adj" fmla="val 15008"/>
            </a:avLst>
          </a:prstGeom>
          <a:solidFill>
            <a:srgbClr val="3B3C3E"/>
          </a:solidFill>
          <a:ln/>
        </p:spPr>
      </p:sp>
      <p:sp>
        <p:nvSpPr>
          <p:cNvPr id="11" name="Shape 7"/>
          <p:cNvSpPr/>
          <p:nvPr/>
        </p:nvSpPr>
        <p:spPr>
          <a:xfrm>
            <a:off x="5160407" y="4558784"/>
            <a:ext cx="567452" cy="567452"/>
          </a:xfrm>
          <a:prstGeom prst="roundRect">
            <a:avLst>
              <a:gd name="adj" fmla="val 80571"/>
            </a:avLst>
          </a:prstGeom>
          <a:solidFill>
            <a:srgbClr val="3B3C3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2210" y="4700707"/>
            <a:ext cx="283726" cy="2837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478" y="5315307"/>
            <a:ext cx="2401729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GIS Mapping Features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349478" y="5724287"/>
            <a:ext cx="3931325" cy="1210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Incorporating Geographic Information Systems to analyse environmental factors like proximity to amenities, green spaces, transport hubs, and infrastructure quality.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9942671" y="4464248"/>
            <a:ext cx="4025622" cy="189071"/>
          </a:xfrm>
          <a:prstGeom prst="roundRect">
            <a:avLst>
              <a:gd name="adj" fmla="val 15008"/>
            </a:avLst>
          </a:prstGeom>
          <a:solidFill>
            <a:srgbClr val="3B3C3E"/>
          </a:solidFill>
          <a:ln/>
        </p:spPr>
      </p:sp>
      <p:sp>
        <p:nvSpPr>
          <p:cNvPr id="16" name="Shape 11"/>
          <p:cNvSpPr/>
          <p:nvPr/>
        </p:nvSpPr>
        <p:spPr>
          <a:xfrm>
            <a:off x="9658945" y="4275058"/>
            <a:ext cx="567452" cy="567452"/>
          </a:xfrm>
          <a:prstGeom prst="roundRect">
            <a:avLst>
              <a:gd name="adj" fmla="val 80571"/>
            </a:avLst>
          </a:prstGeom>
          <a:solidFill>
            <a:srgbClr val="3B3C3E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00749" y="4416981"/>
            <a:ext cx="283726" cy="2837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48017" y="5031581"/>
            <a:ext cx="2553176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Real-Time Market Data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848017" y="5440561"/>
            <a:ext cx="3931325" cy="1210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Connecting to live property market APIs to provide dynamic valuations that reflect current trends, seasonal variations, and economic indicators.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1A8025-0281-8B25-AC66-4CEB527E95EB}"/>
              </a:ext>
            </a:extLst>
          </p:cNvPr>
          <p:cNvSpPr/>
          <p:nvPr/>
        </p:nvSpPr>
        <p:spPr>
          <a:xfrm>
            <a:off x="12904113" y="7793182"/>
            <a:ext cx="1622378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4101" y="333137"/>
            <a:ext cx="4936688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400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Transforming Real Estate Valuation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01" y="893445"/>
            <a:ext cx="6743343" cy="5421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70577" y="1014532"/>
            <a:ext cx="1817608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80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Project Impact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70577" y="1362789"/>
            <a:ext cx="6743343" cy="387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The House Price Prediction System successfully replaces subjective manual valuation with a transparent, scientifically rigorous approach.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70577" y="1859399"/>
            <a:ext cx="6743343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Key achievements: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70577" y="2162175"/>
            <a:ext cx="6743343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Eliminates human bias and inconsistency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70577" y="2398395"/>
            <a:ext cx="6743343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Delivers instant results at scale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70577" y="2634615"/>
            <a:ext cx="6743343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Reduces transaction time significantly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70577" y="2870835"/>
            <a:ext cx="6743343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Provides transparent, data-backed valuations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20444" y="6766786"/>
            <a:ext cx="4493062" cy="39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48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85%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709678" y="7226228"/>
            <a:ext cx="151459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Accuracy Rate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34187" y="7504910"/>
            <a:ext cx="4493062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R² score demonstrates strong predictive power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920913" y="6653400"/>
            <a:ext cx="4493062" cy="39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48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10x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57903" y="7067499"/>
            <a:ext cx="151459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Faster Processing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224046" y="7305953"/>
            <a:ext cx="4493062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Compared to traditional manual appraisals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621382" y="6710817"/>
            <a:ext cx="4493181" cy="39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48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100%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959584" y="7077402"/>
            <a:ext cx="151459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20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Objective Results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470291" y="7275909"/>
            <a:ext cx="4493181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Zero human bias in price estimation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4101" y="9294495"/>
            <a:ext cx="2423398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360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Thank You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24101" y="9778960"/>
            <a:ext cx="13782199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We welcome your questions and feedback.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0D838F-982E-FEE9-4240-C7384FCF3F8E}"/>
              </a:ext>
            </a:extLst>
          </p:cNvPr>
          <p:cNvSpPr/>
          <p:nvPr/>
        </p:nvSpPr>
        <p:spPr>
          <a:xfrm>
            <a:off x="12904113" y="7793182"/>
            <a:ext cx="1622378" cy="3629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9EF7AF-5BE6-E35B-C4DA-87A6F9D026CA}"/>
              </a:ext>
            </a:extLst>
          </p:cNvPr>
          <p:cNvSpPr/>
          <p:nvPr/>
        </p:nvSpPr>
        <p:spPr>
          <a:xfrm>
            <a:off x="12853555" y="7678882"/>
            <a:ext cx="1641763" cy="4364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12F561-F45C-A12D-AD58-F011CC2F05FC}"/>
              </a:ext>
            </a:extLst>
          </p:cNvPr>
          <p:cNvSpPr/>
          <p:nvPr/>
        </p:nvSpPr>
        <p:spPr>
          <a:xfrm>
            <a:off x="3792682" y="3252354"/>
            <a:ext cx="6852804" cy="1163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THANK YOU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772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814</Words>
  <Application>Microsoft Office PowerPoint</Application>
  <PresentationFormat>Custom</PresentationFormat>
  <Paragraphs>123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Harry Potter</dc:creator>
  <cp:lastModifiedBy>Harry Potter</cp:lastModifiedBy>
  <cp:revision>8</cp:revision>
  <dcterms:created xsi:type="dcterms:W3CDTF">2025-11-18T20:08:38Z</dcterms:created>
  <dcterms:modified xsi:type="dcterms:W3CDTF">2025-11-19T05:01:45Z</dcterms:modified>
</cp:coreProperties>
</file>